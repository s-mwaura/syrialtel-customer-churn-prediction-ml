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23" r:id="rId6"/>
    <p:sldId id="307" r:id="rId7"/>
    <p:sldId id="282" r:id="rId8"/>
    <p:sldId id="324" r:id="rId9"/>
    <p:sldId id="325" r:id="rId10"/>
    <p:sldId id="321" r:id="rId11"/>
    <p:sldId id="322" r:id="rId12"/>
    <p:sldId id="326" r:id="rId13"/>
    <p:sldId id="319" r:id="rId14"/>
    <p:sldId id="327" r:id="rId15"/>
    <p:sldId id="328" r:id="rId16"/>
    <p:sldId id="329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59" d="100"/>
          <a:sy n="59" d="100"/>
        </p:scale>
        <p:origin x="964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8699-0083-0F2A-7E8A-1CB9B560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8A323-3863-B176-327F-17B0E19D3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4CDA3-4C2C-B421-5216-AB8D73BC5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198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CADD-8F2E-44C5-A1A0-A8A2D085A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04ED7-9340-A76B-F29D-117494597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5543F-7F8E-7E2C-CB32-BDB6AA666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29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A1A7-9B1B-1A28-9177-27E4DC7B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7A379-890B-B912-E91C-2FDDBA44C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F64FE-D2A1-AF99-AC00-12DFF9EB1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81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41E2-938E-1FF1-E723-E4AC7B9C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9DFA5-EC52-04C1-5B2D-D997EE4E6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AD4DD-ED4D-8F4C-9C8C-F5CCFC450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18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55AB-8CB1-7B77-EC93-21C94196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62D1F-2671-2A96-C6D4-16EF9AAB0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EA758-657F-1087-1EA7-B084902D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38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4694-0BBE-79A3-8A60-5423FB70A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B27CE-38AC-407B-016B-EE1495A18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B907A-356C-5E80-B11C-CFA435A48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91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devopedia.org/machine-learnin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SYRIATEL CHURN PREDICTION.</a:t>
            </a:r>
            <a:br>
              <a:rPr lang="en-US" dirty="0"/>
            </a:br>
            <a:r>
              <a:rPr lang="en-US" sz="1800" dirty="0">
                <a:latin typeface="Arial Narrow" panose="020B0606020202030204" pitchFamily="34" charset="0"/>
              </a:rPr>
              <a:t>Prediction for customer retention Strategy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Author: STEPHEN MWAURA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72DB-81C2-BC17-E365-6D07D8D8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85" y="1038906"/>
            <a:ext cx="6226630" cy="1011012"/>
          </a:xfrm>
        </p:spPr>
        <p:txBody>
          <a:bodyPr/>
          <a:lstStyle/>
          <a:p>
            <a:r>
              <a:rPr lang="en-GB" dirty="0"/>
              <a:t>Customer Churn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D928B-E069-10CB-265E-72205B20F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8" y="2351313"/>
            <a:ext cx="10287002" cy="41474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As per Accenture 2024 research, 77% of consumers are shifting from one telecommunication to another much faster than they did three years ago.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means that telecommunication companies (telcos) must put in extra effort to retain their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can business do to retain customers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 try to answer the question through Prediction models.</a:t>
            </a:r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ABB14-0E2E-1C83-A851-C9C5246B3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49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OBJECTIVE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- Develop a high classification model to identify at risk customers early.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- Enable Syriatel to implement targeted retention measures and stabilize revenue shares.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</a:br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303B6BB7-3663-FA32-E618-FBAA828A5C9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756" r="1475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70C9CC-1FEE-5361-3C66-5206A50556BD}"/>
              </a:ext>
            </a:extLst>
          </p:cNvPr>
          <p:cNvSpPr txBox="1"/>
          <p:nvPr/>
        </p:nvSpPr>
        <p:spPr>
          <a:xfrm>
            <a:off x="443345" y="6359525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E" sz="900" dirty="0">
                <a:hlinkClick r:id="rId4" tooltip="https://devopedia.org/machine-learning"/>
              </a:rPr>
              <a:t>This Photo</a:t>
            </a:r>
            <a:r>
              <a:rPr lang="en-KE" sz="900" dirty="0"/>
              <a:t> by Unknown Author is licensed under </a:t>
            </a:r>
            <a:r>
              <a:rPr lang="en-KE" sz="900" dirty="0">
                <a:hlinkClick r:id="rId5" tooltip="https://creativecommons.org/licenses/by-sa/3.0/"/>
              </a:rPr>
              <a:t>CC BY-SA</a:t>
            </a:r>
            <a:endParaRPr lang="en-KE" sz="900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THE BUSINESS PROBLEM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3200" dirty="0"/>
              <a:t>Attrition crises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r>
              <a:rPr lang="en-US" sz="2400" dirty="0"/>
              <a:t>Rising attrition rates pose a direct threat to revenue stability and competitive market position in the Syriatel landscape</a:t>
            </a:r>
          </a:p>
          <a:p>
            <a:r>
              <a:rPr lang="en-US" sz="2400" dirty="0"/>
              <a:t>Maintain profitability in a saturated market</a:t>
            </a:r>
          </a:p>
          <a:p>
            <a:r>
              <a:rPr lang="en-US" sz="2400" dirty="0"/>
              <a:t>Identify key drivers of customer defection</a:t>
            </a:r>
          </a:p>
          <a:p>
            <a:r>
              <a:rPr lang="en-US" sz="2400" dirty="0"/>
              <a:t>Implement proactive loyalty programs</a:t>
            </a:r>
          </a:p>
          <a:p>
            <a:r>
              <a:rPr lang="en-US" sz="2400" dirty="0"/>
              <a:t>Enhance competitive market share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007FA-684D-978A-1453-228D26A3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CCE4-E317-3CCD-188E-21A4DE1D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DATASET PROFILE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D58C2-FAC9-36DD-028B-46EBC92CF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3333 Records – Comprehensive customer activity logs from Kaggle’s dataset</a:t>
            </a:r>
          </a:p>
          <a:p>
            <a:r>
              <a:rPr lang="en-US" sz="2800" dirty="0"/>
              <a:t>21 Features- Usage metrics account metadata and service interaction history.</a:t>
            </a:r>
          </a:p>
          <a:p>
            <a:r>
              <a:rPr lang="en-US" sz="2800" dirty="0"/>
              <a:t>Customer activity- Data spans call minutes, charges across different times, and plan subscriptions.</a:t>
            </a:r>
          </a:p>
          <a:p>
            <a:r>
              <a:rPr lang="en-US" sz="2800" dirty="0"/>
              <a:t>Clean data- Zero missing or duplicate values found during cleaning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FB5779D-E5E2-ED8B-0813-6017FD70C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95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C773-96B1-DC3D-1348-7EFD4BC9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A32308-242C-FA06-902B-B9DCD5E2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1089212"/>
            <a:ext cx="10635344" cy="1527097"/>
          </a:xfrm>
        </p:spPr>
        <p:txBody>
          <a:bodyPr/>
          <a:lstStyle/>
          <a:p>
            <a:r>
              <a:rPr lang="en-US" dirty="0"/>
              <a:t>Exploratory</a:t>
            </a:r>
            <a:br>
              <a:rPr lang="en-US" dirty="0"/>
            </a:br>
            <a:r>
              <a:rPr lang="en-US" dirty="0"/>
              <a:t>Data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D5221-8133-8062-15E1-D6566D0DE1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2917371"/>
            <a:ext cx="4297181" cy="3118853"/>
          </a:xfrm>
        </p:spPr>
        <p:txBody>
          <a:bodyPr/>
          <a:lstStyle/>
          <a:p>
            <a:r>
              <a:rPr lang="en-US" sz="2400" dirty="0"/>
              <a:t>14.49 % of the 3,333 customers have terminated their contract with Syriatel company.</a:t>
            </a:r>
          </a:p>
          <a:p>
            <a:r>
              <a:rPr lang="en-US" sz="2400" dirty="0"/>
              <a:t>This is a total of 483 customers lost.</a:t>
            </a:r>
          </a:p>
          <a:p>
            <a:r>
              <a:rPr lang="en-US" sz="2400" dirty="0"/>
              <a:t>False  = Not churned</a:t>
            </a:r>
          </a:p>
          <a:p>
            <a:r>
              <a:rPr lang="en-US" sz="2400" dirty="0"/>
              <a:t>True  = Churned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2AAFA-26BC-2C18-31F1-97A728EE9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35B9B9-3187-05FE-D35A-0CE0C7D165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898570" y="457199"/>
            <a:ext cx="7064829" cy="640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6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MODEL SELECTION AND EVALUATION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2027" y="2303028"/>
            <a:ext cx="4573999" cy="3961593"/>
          </a:xfrm>
        </p:spPr>
        <p:txBody>
          <a:bodyPr>
            <a:normAutofit/>
          </a:bodyPr>
          <a:lstStyle/>
          <a:p>
            <a:r>
              <a:rPr lang="en-US" sz="2800" dirty="0"/>
              <a:t>Logistic Regression- </a:t>
            </a:r>
            <a:r>
              <a:rPr lang="en-US" sz="2400" dirty="0"/>
              <a:t>Baseline model for probabilistic classification</a:t>
            </a:r>
          </a:p>
          <a:p>
            <a:r>
              <a:rPr lang="en-US" sz="2800" dirty="0"/>
              <a:t>Decision Tree</a:t>
            </a:r>
            <a:r>
              <a:rPr lang="en-US" sz="2400" dirty="0"/>
              <a:t>- Non-linear logic capturing complex feature interactions</a:t>
            </a:r>
          </a:p>
          <a:p>
            <a:r>
              <a:rPr lang="en-US" sz="2800" dirty="0"/>
              <a:t>Random Forest- </a:t>
            </a:r>
            <a:r>
              <a:rPr lang="en-US" sz="2400" dirty="0"/>
              <a:t>Ensemble method reducing variance and overfitting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122" name="Picture 2" descr="Essential Machine Learning Algorithms">
            <a:extLst>
              <a:ext uri="{FF2B5EF4-FFF2-40B4-BE49-F238E27FC236}">
                <a16:creationId xmlns:a16="http://schemas.microsoft.com/office/drawing/2014/main" id="{FA31E621-AFF3-6A6A-3466-38F9341F30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71" y="2006728"/>
            <a:ext cx="5817885" cy="455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0881"/>
            <a:ext cx="10511627" cy="1012785"/>
          </a:xfrm>
        </p:spPr>
        <p:txBody>
          <a:bodyPr/>
          <a:lstStyle/>
          <a:p>
            <a:r>
              <a:rPr lang="en-US" dirty="0"/>
              <a:t>MODEL PERFORMANCE metrics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EFF078-D031-D541-F058-7A4A9F7EE5C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272142" y="1928543"/>
            <a:ext cx="11240181" cy="497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05D8-6CAD-D64F-27E5-05B20E08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B0CF07-0FF0-0264-04AD-FD555867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1089212"/>
            <a:ext cx="10635344" cy="1527097"/>
          </a:xfrm>
        </p:spPr>
        <p:txBody>
          <a:bodyPr/>
          <a:lstStyle/>
          <a:p>
            <a:r>
              <a:rPr lang="en-US" sz="2400" dirty="0"/>
              <a:t>RECEIVER OPERATING</a:t>
            </a:r>
            <a:br>
              <a:rPr lang="en-US" sz="2400" dirty="0"/>
            </a:br>
            <a:r>
              <a:rPr lang="en-US" sz="2400" dirty="0"/>
              <a:t>CHARACTERISTIC(ROC)</a:t>
            </a:r>
            <a:br>
              <a:rPr lang="en-US" sz="2400" dirty="0"/>
            </a:br>
            <a:r>
              <a:rPr lang="en-US" sz="2400" dirty="0"/>
              <a:t>AND AREA under </a:t>
            </a:r>
            <a:br>
              <a:rPr lang="en-US" sz="2400" dirty="0"/>
            </a:br>
            <a:r>
              <a:rPr lang="en-US" sz="2400" dirty="0"/>
              <a:t>Curve(AUC)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733E7-BD86-3DE8-994E-8299882607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2917371"/>
            <a:ext cx="4297181" cy="3118853"/>
          </a:xfrm>
        </p:spPr>
        <p:txBody>
          <a:bodyPr/>
          <a:lstStyle/>
          <a:p>
            <a:r>
              <a:rPr lang="en-US" sz="2400" dirty="0"/>
              <a:t>Random Forest Classifier has high ROC Curve approaching to left corner and a high AUC of 0.92, </a:t>
            </a:r>
          </a:p>
          <a:p>
            <a:r>
              <a:rPr lang="en-US" sz="2400" dirty="0"/>
              <a:t>The Classifier therefore able to distinguish churn and non-churn customers.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F334F7-7D1B-5873-5F26-B07923907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F2D285-E8D0-7627-C1D5-AE88DED792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09457" y="408117"/>
            <a:ext cx="7151914" cy="62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4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1089212"/>
            <a:ext cx="10961915" cy="1527097"/>
          </a:xfrm>
        </p:spPr>
        <p:txBody>
          <a:bodyPr/>
          <a:lstStyle/>
          <a:p>
            <a:r>
              <a:rPr lang="en-US" dirty="0"/>
              <a:t>Model </a:t>
            </a:r>
            <a:br>
              <a:rPr lang="en-US" dirty="0"/>
            </a:br>
            <a:r>
              <a:rPr lang="en-US" dirty="0"/>
              <a:t>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2917371"/>
            <a:ext cx="4297181" cy="3118853"/>
          </a:xfrm>
        </p:spPr>
        <p:txBody>
          <a:bodyPr/>
          <a:lstStyle/>
          <a:p>
            <a:r>
              <a:rPr lang="en-US" sz="2000" dirty="0"/>
              <a:t>Random Forest Classifier performs better. This is explained by the high Accuracy, F1 Score , recall and Precision as highlighted on the metrics table.</a:t>
            </a:r>
          </a:p>
          <a:p>
            <a:r>
              <a:rPr lang="en-US" sz="2000" dirty="0"/>
              <a:t>Recall = 77%</a:t>
            </a:r>
          </a:p>
          <a:p>
            <a:r>
              <a:rPr lang="en-US" sz="2000" dirty="0"/>
              <a:t>F1 Score = 66%</a:t>
            </a:r>
          </a:p>
          <a:p>
            <a:r>
              <a:rPr lang="en-US" sz="2000" dirty="0"/>
              <a:t>Accuracy = 91%</a:t>
            </a:r>
          </a:p>
          <a:p>
            <a:r>
              <a:rPr lang="en-US" sz="2000" dirty="0"/>
              <a:t>Precision = 58%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70EF9C-B662-AA6A-BB81-096090D996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237350" y="644336"/>
            <a:ext cx="7954650" cy="628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2F78-DE13-44F8-0336-B55CCAD5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C189FE-6A15-295A-7AC2-194C872C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1089212"/>
            <a:ext cx="10635344" cy="1527097"/>
          </a:xfrm>
        </p:spPr>
        <p:txBody>
          <a:bodyPr/>
          <a:lstStyle/>
          <a:p>
            <a:r>
              <a:rPr lang="en-US" sz="2400" dirty="0"/>
              <a:t>Features </a:t>
            </a:r>
            <a:br>
              <a:rPr lang="en-US" sz="2400" dirty="0"/>
            </a:br>
            <a:r>
              <a:rPr lang="en-US" sz="2400" dirty="0"/>
              <a:t>influencing </a:t>
            </a:r>
            <a:br>
              <a:rPr lang="en-US" sz="2400" dirty="0"/>
            </a:br>
            <a:r>
              <a:rPr lang="en-US" sz="2400" dirty="0"/>
              <a:t>customer churn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BB0D9-ACFC-4FE6-831E-DA675130C4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2917371"/>
            <a:ext cx="4297181" cy="311885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duration of calls during the day and in the evening. Can be churn signals if reduce call duration.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duration of international calls.</a:t>
            </a:r>
            <a:r>
              <a:rPr lang="en-GB" sz="2000" dirty="0"/>
              <a:t> Customers with high international usage may churn if they find cheaper alternatives.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52B7E-BDCE-4B7E-A7C5-F436526E2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1055CA-5FBA-38A7-D85C-678F56EF35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087938" y="729343"/>
            <a:ext cx="7102722" cy="58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563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3F92B-3DE3-4997-2133-752F7CAC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34686-3FAA-7CC4-3ACC-99EAD1FF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729344"/>
            <a:ext cx="7965461" cy="327930"/>
          </a:xfrm>
        </p:spPr>
        <p:txBody>
          <a:bodyPr/>
          <a:lstStyle/>
          <a:p>
            <a:r>
              <a:rPr lang="en-US" dirty="0"/>
              <a:t>Recommendations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E5056-FA09-AFA3-2BA5-77990FE09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60914" y="1180421"/>
            <a:ext cx="8465110" cy="5111522"/>
          </a:xfrm>
        </p:spPr>
        <p:txBody>
          <a:bodyPr>
            <a:normAutofit/>
          </a:bodyPr>
          <a:lstStyle/>
          <a:p>
            <a:r>
              <a:rPr lang="en-GB" sz="2600" dirty="0"/>
              <a:t>Syriatel adopt the Random Forest Classifier which has better evaluation metrics as the primary model for churn prediction. </a:t>
            </a:r>
          </a:p>
          <a:p>
            <a:r>
              <a:rPr lang="en-GB" sz="2400" dirty="0"/>
              <a:t>Syriatel should implement customer retention initiatives that target the key drivers of churn, particularly those related to call usage and pricing.</a:t>
            </a:r>
          </a:p>
          <a:p>
            <a:r>
              <a:rPr lang="en-GB" sz="2400" dirty="0"/>
              <a:t>The company should focus on improving customer service efficiency and satisfaction. Since the number of customer service calls is a significant predictor of churn.</a:t>
            </a:r>
          </a:p>
          <a:p>
            <a:endParaRPr lang="en-GB" sz="2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0A5037F-9296-B64A-F1A4-81D46CCBF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3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C2AE-0261-D308-99CF-B9737355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2B5E-F5DA-C4A6-5CBA-C5C68390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914" y="714716"/>
            <a:ext cx="7965461" cy="327930"/>
          </a:xfrm>
        </p:spPr>
        <p:txBody>
          <a:bodyPr/>
          <a:lstStyle/>
          <a:p>
            <a:r>
              <a:rPr lang="en-US" dirty="0"/>
              <a:t>        NEXT STEPS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B1B7-7706-0ED8-609D-B76A593A7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60914" y="1180421"/>
            <a:ext cx="8465110" cy="5111522"/>
          </a:xfrm>
        </p:spPr>
        <p:txBody>
          <a:bodyPr>
            <a:normAutofit/>
          </a:bodyPr>
          <a:lstStyle/>
          <a:p>
            <a:r>
              <a:rPr lang="en-GB" sz="2400" dirty="0"/>
              <a:t>To improve the effectiveness of this churn prediction project, the next step is to deploy the best-performing model into a real-world environment where it can be used to predict churn risk for active customers. </a:t>
            </a:r>
          </a:p>
          <a:p>
            <a:r>
              <a:rPr lang="en-GB" sz="2400" dirty="0"/>
              <a:t>Syriatel can then use these predictions to implement targeted retention strategies such as offering discounts, loyalty rewards, or improved customer support to customers identified as high-risk</a:t>
            </a:r>
          </a:p>
          <a:p>
            <a:r>
              <a:rPr lang="en-GB" sz="2400" dirty="0"/>
              <a:t>The company should focus on improving customer service efficiency and satisfaction. Since the number of customer service calls is a significant predictor of churn.</a:t>
            </a:r>
          </a:p>
          <a:p>
            <a:endParaRPr lang="en-GB" sz="2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6CB9987-8433-E502-3589-B764BDD2C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24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https://github.com/S-Mwaura/SyrialTel-Customer-Churn-Prediction-ML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{7DD69060-84C1-40F9-9790-C29D85A207B7}TF8a9b5915-b8c7-461e-8cdd-693d48b5e32371f7b7e2_win32-4bf0b9a2ea37</Template>
  <TotalTime>141</TotalTime>
  <Words>606</Words>
  <Application>Microsoft Office PowerPoint</Application>
  <PresentationFormat>Widescreen</PresentationFormat>
  <Paragraphs>62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Arial Narrow</vt:lpstr>
      <vt:lpstr>Calibri</vt:lpstr>
      <vt:lpstr>Sabon Next LT</vt:lpstr>
      <vt:lpstr>Custom</vt:lpstr>
      <vt:lpstr>SYRIATEL CHURN PREDICTION. Prediction for customer retention Strategy   Author: STEPHEN MWAURA</vt:lpstr>
      <vt:lpstr>Customer Churn</vt:lpstr>
      <vt:lpstr>OBJECTIVE - Develop a high classification model to identify at risk customers early.  - Enable Syriatel to implement targeted retention measures and stabilize revenue shares. </vt:lpstr>
      <vt:lpstr>THE BUSINESS PROBLEM     Attrition crises</vt:lpstr>
      <vt:lpstr>DATASET PROFILE</vt:lpstr>
      <vt:lpstr>Exploratory Data Analysis</vt:lpstr>
      <vt:lpstr>MODEL SELECTION AND EVALUATION</vt:lpstr>
      <vt:lpstr>MODEL PERFORMANCE metrics</vt:lpstr>
      <vt:lpstr>RECEIVER OPERATING CHARACTERISTIC(ROC) AND AREA under  Curve(AUC)</vt:lpstr>
      <vt:lpstr>Model  COMPARISON</vt:lpstr>
      <vt:lpstr>Features  influencing  customer churn</vt:lpstr>
      <vt:lpstr>Recommendations</vt:lpstr>
      <vt:lpstr>        NEXT STEPS</vt:lpstr>
      <vt:lpstr>Thank  you  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Mwaura, Stephen KEN USAMRU-K LAB KCH</dc:creator>
  <cp:lastModifiedBy>Mwaura, Stephen KEN USAMRU-K LAB KCH</cp:lastModifiedBy>
  <cp:revision>5</cp:revision>
  <dcterms:created xsi:type="dcterms:W3CDTF">2026-04-29T15:31:46Z</dcterms:created>
  <dcterms:modified xsi:type="dcterms:W3CDTF">2026-04-29T18:00:21Z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